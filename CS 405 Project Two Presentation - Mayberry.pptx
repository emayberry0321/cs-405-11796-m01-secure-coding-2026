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70" r:id="rId13"/>
    <p:sldId id="264" r:id="rId14"/>
    <p:sldId id="265"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custDataLst>
    <p:tags r:id="rId2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BF8F70-B26B-4060-A59D-54C36E27B851}" v="6" dt="2026-10-18T23:03:11.364"/>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8" y="10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F7A05292-7214-66A5-7204-78221FBD9D54}"/>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9E95DA8A-A609-5E48-81FA-DF67B88C31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744FE87A-6873-C792-B79A-894C734D679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2707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3.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dirty="0"/>
              <a:t>Green Pace</a:t>
            </a:r>
            <a:endParaRPr dirty="0"/>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Ethan Mayberry</a:t>
            </a:r>
            <a:endParaRPr dirty="0"/>
          </a:p>
          <a:p>
            <a:pPr marL="0" lvl="0" indent="0" algn="l" rtl="0">
              <a:lnSpc>
                <a:spcPct val="70000"/>
              </a:lnSpc>
              <a:spcBef>
                <a:spcPts val="1000"/>
              </a:spcBef>
              <a:spcAft>
                <a:spcPts val="0"/>
              </a:spcAft>
              <a:buClr>
                <a:schemeClr val="lt1"/>
              </a:buClr>
              <a:buSzPts val="1850"/>
              <a:buNone/>
            </a:pPr>
            <a:endParaRPr sz="1850" i="1" dirty="0"/>
          </a:p>
          <a:p>
            <a:pPr marL="0" lvl="0" indent="0" algn="l" rtl="0">
              <a:lnSpc>
                <a:spcPct val="70000"/>
              </a:lnSpc>
              <a:spcBef>
                <a:spcPts val="1000"/>
              </a:spcBef>
              <a:spcAft>
                <a:spcPts val="0"/>
              </a:spcAft>
              <a:buSzPts val="1850"/>
              <a:buNone/>
            </a:pPr>
            <a:endParaRPr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1925054"/>
            <a:ext cx="10820400" cy="4293632"/>
          </a:xfrm>
          <a:prstGeom prst="rect">
            <a:avLst/>
          </a:prstGeom>
          <a:noFill/>
          <a:ln>
            <a:noFill/>
          </a:ln>
        </p:spPr>
        <p:txBody>
          <a:bodyPr spcFirstLastPara="1" wrap="square" lIns="91425" tIns="45700" rIns="91425" bIns="45700" anchor="t" anchorCtr="0">
            <a:normAutofit/>
          </a:bodyPr>
          <a:lstStyle/>
          <a:p>
            <a:pPr marL="685800" lvl="0" indent="0" algn="l" rtl="0">
              <a:lnSpc>
                <a:spcPct val="90000"/>
              </a:lnSpc>
              <a:spcBef>
                <a:spcPts val="0"/>
              </a:spcBef>
              <a:spcAft>
                <a:spcPts val="0"/>
              </a:spcAft>
              <a:buSzPts val="1800"/>
              <a:buNone/>
            </a:pPr>
            <a:r>
              <a:rPr lang="en-US" sz="1600" dirty="0"/>
              <a:t>This security policy’s purpose is to act as a collection of best practices and standards </a:t>
            </a:r>
            <a:r>
              <a:rPr lang="en-US" sz="1600" dirty="0" err="1"/>
              <a:t>thet</a:t>
            </a:r>
            <a:r>
              <a:rPr lang="en-US" sz="1600" dirty="0"/>
              <a:t> we have set to uphold the safety and security of our data and software. Parts of the policy laid out here make up just some of the layers of the Defense-in-Depth strategy.</a:t>
            </a:r>
            <a:endParaRPr sz="1600" dirty="0"/>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60643" y="2839411"/>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916774" y="268249"/>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221325" y="1379621"/>
            <a:ext cx="3644822" cy="5037222"/>
          </a:xfrm>
          <a:prstGeom prst="rect">
            <a:avLst/>
          </a:prstGeom>
          <a:noFill/>
          <a:ln>
            <a:noFill/>
          </a:ln>
        </p:spPr>
        <p:txBody>
          <a:bodyPr spcFirstLastPara="1" wrap="square" lIns="91425" tIns="45700" rIns="91425" bIns="45700" anchor="t" anchorCtr="0">
            <a:normAutofit lnSpcReduction="10000"/>
          </a:bodyPr>
          <a:lstStyle/>
          <a:p>
            <a:pPr marL="228600" lvl="0" indent="0" algn="l" rtl="0">
              <a:lnSpc>
                <a:spcPct val="107916"/>
              </a:lnSpc>
              <a:spcBef>
                <a:spcPts val="0"/>
              </a:spcBef>
              <a:spcAft>
                <a:spcPts val="0"/>
              </a:spcAft>
              <a:buSzPts val="1800"/>
              <a:buNone/>
            </a:pPr>
            <a:r>
              <a:rPr lang="en-US" sz="2000" b="1" dirty="0">
                <a:solidFill>
                  <a:srgbClr val="FFFFFF"/>
                </a:solidFill>
              </a:rPr>
              <a:t>Likely – Probable chance of occurring. Typically, low in severity.</a:t>
            </a:r>
          </a:p>
          <a:p>
            <a:pPr marL="228600" lvl="0" indent="0" algn="l" rtl="0">
              <a:lnSpc>
                <a:spcPct val="107916"/>
              </a:lnSpc>
              <a:spcBef>
                <a:spcPts val="0"/>
              </a:spcBef>
              <a:spcAft>
                <a:spcPts val="0"/>
              </a:spcAft>
              <a:buSzPts val="1800"/>
              <a:buNone/>
            </a:pPr>
            <a:endParaRPr lang="en-US" sz="2000" b="1" dirty="0">
              <a:solidFill>
                <a:srgbClr val="FFFFFF"/>
              </a:solidFill>
            </a:endParaRPr>
          </a:p>
          <a:p>
            <a:pPr marL="228600" lvl="0" indent="0" algn="l" rtl="0">
              <a:lnSpc>
                <a:spcPct val="107916"/>
              </a:lnSpc>
              <a:spcBef>
                <a:spcPts val="0"/>
              </a:spcBef>
              <a:spcAft>
                <a:spcPts val="0"/>
              </a:spcAft>
              <a:buSzPts val="1800"/>
              <a:buNone/>
            </a:pPr>
            <a:r>
              <a:rPr lang="en-US" sz="2000" b="1" dirty="0">
                <a:solidFill>
                  <a:srgbClr val="FFFFFF"/>
                </a:solidFill>
              </a:rPr>
              <a:t>Unlikely – Not a probable chance to occur. Typically, high in severity.</a:t>
            </a:r>
          </a:p>
          <a:p>
            <a:pPr marL="228600" lvl="0" indent="0" algn="l" rtl="0">
              <a:lnSpc>
                <a:spcPct val="107916"/>
              </a:lnSpc>
              <a:spcBef>
                <a:spcPts val="0"/>
              </a:spcBef>
              <a:spcAft>
                <a:spcPts val="0"/>
              </a:spcAft>
              <a:buSzPts val="1800"/>
              <a:buNone/>
            </a:pPr>
            <a:endParaRPr lang="en-US" sz="2000" b="1" dirty="0">
              <a:solidFill>
                <a:srgbClr val="FFFFFF"/>
              </a:solidFill>
            </a:endParaRPr>
          </a:p>
          <a:p>
            <a:pPr marL="228600" lvl="0" indent="0" algn="l" rtl="0">
              <a:lnSpc>
                <a:spcPct val="107916"/>
              </a:lnSpc>
              <a:spcBef>
                <a:spcPts val="0"/>
              </a:spcBef>
              <a:spcAft>
                <a:spcPts val="0"/>
              </a:spcAft>
              <a:buSzPts val="1800"/>
              <a:buNone/>
            </a:pPr>
            <a:r>
              <a:rPr lang="en-US" sz="2000" b="1" dirty="0">
                <a:solidFill>
                  <a:srgbClr val="FFFFFF"/>
                </a:solidFill>
              </a:rPr>
              <a:t>Low Priority – Not a probable chance to occur. Typically, low in severity.</a:t>
            </a:r>
          </a:p>
          <a:p>
            <a:pPr marL="228600" lvl="0" indent="0" algn="l" rtl="0">
              <a:lnSpc>
                <a:spcPct val="107916"/>
              </a:lnSpc>
              <a:spcBef>
                <a:spcPts val="0"/>
              </a:spcBef>
              <a:spcAft>
                <a:spcPts val="0"/>
              </a:spcAft>
              <a:buSzPts val="1800"/>
              <a:buNone/>
            </a:pPr>
            <a:endParaRPr lang="en-US" sz="2000" b="1" dirty="0">
              <a:solidFill>
                <a:srgbClr val="FFFFFF"/>
              </a:solidFill>
            </a:endParaRPr>
          </a:p>
          <a:p>
            <a:pPr marL="228600" indent="0">
              <a:lnSpc>
                <a:spcPct val="107916"/>
              </a:lnSpc>
              <a:spcBef>
                <a:spcPts val="0"/>
              </a:spcBef>
              <a:buNone/>
            </a:pPr>
            <a:r>
              <a:rPr lang="en-US" sz="2000" b="1" dirty="0">
                <a:solidFill>
                  <a:srgbClr val="FFFFFF"/>
                </a:solidFill>
              </a:rPr>
              <a:t>Priority - Probable chance of occurring. Typically, high in severity.</a:t>
            </a:r>
          </a:p>
          <a:p>
            <a:pPr marL="228600" lvl="0" indent="0" algn="l" rtl="0">
              <a:lnSpc>
                <a:spcPct val="107916"/>
              </a:lnSpc>
              <a:spcBef>
                <a:spcPts val="0"/>
              </a:spcBef>
              <a:spcAft>
                <a:spcPts val="0"/>
              </a:spcAft>
              <a:buSzPts val="1800"/>
              <a:buNone/>
            </a:pPr>
            <a:endParaRPr lang="en-US" sz="2000" dirty="0"/>
          </a:p>
          <a:p>
            <a:pPr marL="228600" lvl="0" indent="-88900" algn="l" rtl="0">
              <a:lnSpc>
                <a:spcPct val="90000"/>
              </a:lnSpc>
              <a:spcBef>
                <a:spcPts val="1000"/>
              </a:spcBef>
              <a:spcAft>
                <a:spcPts val="0"/>
              </a:spcAft>
              <a:buClr>
                <a:schemeClr val="lt1"/>
              </a:buClr>
              <a:buSzPts val="2200"/>
              <a:buNone/>
            </a:pPr>
            <a:endParaRPr dirty="0"/>
          </a:p>
        </p:txBody>
      </p:sp>
      <p:graphicFrame>
        <p:nvGraphicFramePr>
          <p:cNvPr id="161" name="Google Shape;161;p4" descr="Alt text required"/>
          <p:cNvGraphicFramePr/>
          <p:nvPr>
            <p:extLst>
              <p:ext uri="{D42A27DB-BD31-4B8C-83A1-F6EECF244321}">
                <p14:modId xmlns:p14="http://schemas.microsoft.com/office/powerpoint/2010/main" val="2851752883"/>
              </p:ext>
            </p:extLst>
          </p:nvPr>
        </p:nvGraphicFramePr>
        <p:xfrm>
          <a:off x="4018870" y="1561277"/>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marL="571500" marR="0" lvl="0" indent="-571500" algn="l" rtl="0">
                        <a:lnSpc>
                          <a:spcPct val="100000"/>
                        </a:lnSpc>
                        <a:spcBef>
                          <a:spcPts val="0"/>
                        </a:spcBef>
                        <a:spcAft>
                          <a:spcPts val="0"/>
                        </a:spcAft>
                        <a:buClr>
                          <a:srgbClr val="000000"/>
                        </a:buClr>
                        <a:buSzPts val="3600"/>
                        <a:buFont typeface="Arial" panose="020B0604020202020204" pitchFamily="34" charset="0"/>
                        <a:buChar char="•"/>
                      </a:pPr>
                      <a:r>
                        <a:rPr lang="en-US" sz="1400" u="none" strike="noStrike" cap="none" dirty="0">
                          <a:solidFill>
                            <a:schemeClr val="tx1"/>
                          </a:solidFill>
                        </a:rPr>
                        <a:t>STD-004-CPP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STD-002-CPP</a:t>
                      </a:r>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STD-010-CPP </a:t>
                      </a:r>
                      <a:endParaRPr sz="20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STD-001-CPP</a:t>
                      </a:r>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STD-005-CPP</a:t>
                      </a:r>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STD-007-CPP</a:t>
                      </a:r>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STD-009-CPP</a:t>
                      </a:r>
                      <a:endParaRPr sz="20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STD-003-CPP</a:t>
                      </a:r>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STD-006-CPP</a:t>
                      </a:r>
                    </a:p>
                    <a:p>
                      <a:pPr marL="342900" marR="0" lvl="0" indent="-342900" algn="l" rtl="0">
                        <a:lnSpc>
                          <a:spcPct val="100000"/>
                        </a:lnSpc>
                        <a:spcBef>
                          <a:spcPts val="0"/>
                        </a:spcBef>
                        <a:spcAft>
                          <a:spcPts val="0"/>
                        </a:spcAft>
                        <a:buClr>
                          <a:srgbClr val="000000"/>
                        </a:buClr>
                        <a:buSzPts val="3600"/>
                        <a:buFont typeface="Arial" panose="020B0604020202020204" pitchFamily="34" charset="0"/>
                        <a:buChar char="•"/>
                      </a:pPr>
                      <a:r>
                        <a:rPr lang="en-US" sz="1400" b="0" i="0" u="none" strike="noStrike" cap="none" dirty="0">
                          <a:solidFill>
                            <a:srgbClr val="000000"/>
                          </a:solidFill>
                          <a:effectLst/>
                          <a:latin typeface="Arial"/>
                          <a:ea typeface="Arial"/>
                          <a:cs typeface="Arial"/>
                          <a:sym typeface="Arial"/>
                        </a:rPr>
                        <a:t>STD-008-CPP</a:t>
                      </a:r>
                      <a:endParaRPr sz="1400"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226252"/>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sp>
        <p:nvSpPr>
          <p:cNvPr id="168" name="Google Shape;168;p5"/>
          <p:cNvSpPr txBox="1">
            <a:spLocks noGrp="1"/>
          </p:cNvSpPr>
          <p:nvPr>
            <p:ph type="body" idx="1"/>
          </p:nvPr>
        </p:nvSpPr>
        <p:spPr>
          <a:xfrm>
            <a:off x="685800" y="1467841"/>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200"/>
              <a:buNone/>
            </a:pPr>
            <a:endParaRPr lang="en-US" dirty="0">
              <a:solidFill>
                <a:srgbClr val="FFFFFF"/>
              </a:solidFill>
            </a:endParaRPr>
          </a:p>
          <a:p>
            <a:pPr marL="0" lvl="0" indent="0" algn="l" rtl="0">
              <a:lnSpc>
                <a:spcPct val="90000"/>
              </a:lnSpc>
              <a:spcBef>
                <a:spcPts val="0"/>
              </a:spcBef>
              <a:spcAft>
                <a:spcPts val="0"/>
              </a:spcAft>
              <a:buClr>
                <a:schemeClr val="lt1"/>
              </a:buClr>
              <a:buSzPts val="2200"/>
              <a:buNone/>
            </a:pPr>
            <a:endParaRPr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3" name="Table 2">
            <a:extLst>
              <a:ext uri="{FF2B5EF4-FFF2-40B4-BE49-F238E27FC236}">
                <a16:creationId xmlns:a16="http://schemas.microsoft.com/office/drawing/2014/main" id="{E6833529-D4F7-4CBA-DD03-01583AEFF9F5}"/>
              </a:ext>
            </a:extLst>
          </p:cNvPr>
          <p:cNvGraphicFramePr>
            <a:graphicFrameLocks noGrp="1"/>
          </p:cNvGraphicFramePr>
          <p:nvPr>
            <p:extLst>
              <p:ext uri="{D42A27DB-BD31-4B8C-83A1-F6EECF244321}">
                <p14:modId xmlns:p14="http://schemas.microsoft.com/office/powerpoint/2010/main" val="1741045101"/>
              </p:ext>
            </p:extLst>
          </p:nvPr>
        </p:nvGraphicFramePr>
        <p:xfrm>
          <a:off x="2032000" y="1535692"/>
          <a:ext cx="8128000" cy="4079240"/>
        </p:xfrm>
        <a:graphic>
          <a:graphicData uri="http://schemas.openxmlformats.org/drawingml/2006/table">
            <a:tbl>
              <a:tblPr firstRow="1" bandRow="1">
                <a:tableStyleId>{802198C4-3087-4945-87E3-76CBB3509B7E}</a:tableStyleId>
              </a:tblPr>
              <a:tblGrid>
                <a:gridCol w="4064000">
                  <a:extLst>
                    <a:ext uri="{9D8B030D-6E8A-4147-A177-3AD203B41FA5}">
                      <a16:colId xmlns:a16="http://schemas.microsoft.com/office/drawing/2014/main" val="3449254667"/>
                    </a:ext>
                  </a:extLst>
                </a:gridCol>
                <a:gridCol w="4064000">
                  <a:extLst>
                    <a:ext uri="{9D8B030D-6E8A-4147-A177-3AD203B41FA5}">
                      <a16:colId xmlns:a16="http://schemas.microsoft.com/office/drawing/2014/main" val="3158922059"/>
                    </a:ext>
                  </a:extLst>
                </a:gridCol>
              </a:tblGrid>
              <a:tr h="370840">
                <a:tc>
                  <a:txBody>
                    <a:bodyPr/>
                    <a:lstStyle/>
                    <a:p>
                      <a:pPr algn="ctr"/>
                      <a:r>
                        <a:rPr lang="en-US" sz="1800" b="1" dirty="0">
                          <a:solidFill>
                            <a:schemeClr val="bg1"/>
                          </a:solidFill>
                        </a:rPr>
                        <a:t>Security Principle</a:t>
                      </a:r>
                    </a:p>
                  </a:txBody>
                  <a:tcPr/>
                </a:tc>
                <a:tc>
                  <a:txBody>
                    <a:bodyPr/>
                    <a:lstStyle/>
                    <a:p>
                      <a:pPr algn="ctr"/>
                      <a:r>
                        <a:rPr lang="en-US" sz="1800" b="1" dirty="0">
                          <a:solidFill>
                            <a:schemeClr val="bg1"/>
                          </a:solidFill>
                        </a:rPr>
                        <a:t>Coding Standard</a:t>
                      </a:r>
                    </a:p>
                  </a:txBody>
                  <a:tcPr/>
                </a:tc>
                <a:extLst>
                  <a:ext uri="{0D108BD9-81ED-4DB2-BD59-A6C34878D82A}">
                    <a16:rowId xmlns:a16="http://schemas.microsoft.com/office/drawing/2014/main" val="4257795098"/>
                  </a:ext>
                </a:extLst>
              </a:tr>
              <a:tr h="370840">
                <a:tc>
                  <a:txBody>
                    <a:bodyPr/>
                    <a:lstStyle/>
                    <a:p>
                      <a:r>
                        <a:rPr lang="en-US" dirty="0">
                          <a:solidFill>
                            <a:schemeClr val="bg1"/>
                          </a:solidFill>
                        </a:rPr>
                        <a:t>1. Validate Input Data </a:t>
                      </a:r>
                    </a:p>
                  </a:txBody>
                  <a:tcPr/>
                </a:tc>
                <a:tc>
                  <a:txBody>
                    <a:bodyPr/>
                    <a:lstStyle/>
                    <a:p>
                      <a:r>
                        <a:rPr lang="en-US" sz="1400" b="0" i="0" u="none" strike="noStrike" cap="none" dirty="0">
                          <a:solidFill>
                            <a:schemeClr val="bg1"/>
                          </a:solidFill>
                          <a:effectLst/>
                          <a:latin typeface="Arial"/>
                          <a:ea typeface="Arial"/>
                          <a:cs typeface="Arial"/>
                          <a:sym typeface="Arial"/>
                        </a:rPr>
                        <a:t>STD-001-CPP,</a:t>
                      </a:r>
                      <a:endParaRPr lang="en-US" dirty="0">
                        <a:solidFill>
                          <a:schemeClr val="bg1"/>
                        </a:solidFill>
                      </a:endParaRPr>
                    </a:p>
                  </a:txBody>
                  <a:tcPr/>
                </a:tc>
                <a:extLst>
                  <a:ext uri="{0D108BD9-81ED-4DB2-BD59-A6C34878D82A}">
                    <a16:rowId xmlns:a16="http://schemas.microsoft.com/office/drawing/2014/main" val="1444991482"/>
                  </a:ext>
                </a:extLst>
              </a:tr>
              <a:tr h="370840">
                <a:tc>
                  <a:txBody>
                    <a:bodyPr/>
                    <a:lstStyle/>
                    <a:p>
                      <a:r>
                        <a:rPr lang="en-US" dirty="0">
                          <a:solidFill>
                            <a:schemeClr val="bg1"/>
                          </a:solidFill>
                        </a:rPr>
                        <a:t>2. Heed Compiler Warnings</a:t>
                      </a:r>
                    </a:p>
                  </a:txBody>
                  <a:tcPr/>
                </a:tc>
                <a:tc>
                  <a:txBody>
                    <a:bodyPr/>
                    <a:lstStyle/>
                    <a:p>
                      <a:r>
                        <a:rPr lang="en-US" dirty="0">
                          <a:solidFill>
                            <a:schemeClr val="bg1"/>
                          </a:solidFill>
                        </a:rPr>
                        <a:t>STD-002-CPP</a:t>
                      </a:r>
                    </a:p>
                  </a:txBody>
                  <a:tcPr/>
                </a:tc>
                <a:extLst>
                  <a:ext uri="{0D108BD9-81ED-4DB2-BD59-A6C34878D82A}">
                    <a16:rowId xmlns:a16="http://schemas.microsoft.com/office/drawing/2014/main" val="3431796921"/>
                  </a:ext>
                </a:extLst>
              </a:tr>
              <a:tr h="370840">
                <a:tc>
                  <a:txBody>
                    <a:bodyPr/>
                    <a:lstStyle/>
                    <a:p>
                      <a:r>
                        <a:rPr lang="en-US" dirty="0">
                          <a:solidFill>
                            <a:schemeClr val="bg1"/>
                          </a:solidFill>
                        </a:rPr>
                        <a:t>3. Design for Security Policies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bg1"/>
                          </a:solidFill>
                          <a:effectLst/>
                          <a:latin typeface="Arial"/>
                          <a:ea typeface="Arial"/>
                          <a:cs typeface="Arial"/>
                          <a:sym typeface="Arial"/>
                        </a:rPr>
                        <a:t>STD-006-CPP, STD-010-CPP</a:t>
                      </a:r>
                      <a:endParaRPr lang="en-US" dirty="0">
                        <a:solidFill>
                          <a:schemeClr val="bg1"/>
                        </a:solidFill>
                      </a:endParaRPr>
                    </a:p>
                  </a:txBody>
                  <a:tcPr/>
                </a:tc>
                <a:extLst>
                  <a:ext uri="{0D108BD9-81ED-4DB2-BD59-A6C34878D82A}">
                    <a16:rowId xmlns:a16="http://schemas.microsoft.com/office/drawing/2014/main" val="2000180509"/>
                  </a:ext>
                </a:extLst>
              </a:tr>
              <a:tr h="370840">
                <a:tc>
                  <a:txBody>
                    <a:bodyPr/>
                    <a:lstStyle/>
                    <a:p>
                      <a:r>
                        <a:rPr lang="en-US" dirty="0">
                          <a:solidFill>
                            <a:schemeClr val="bg1"/>
                          </a:solidFill>
                        </a:rPr>
                        <a:t>4. Keep It Simple</a:t>
                      </a:r>
                    </a:p>
                  </a:txBody>
                  <a:tcPr/>
                </a:tc>
                <a:tc>
                  <a:txBody>
                    <a:bodyPr/>
                    <a:lstStyle/>
                    <a:p>
                      <a:r>
                        <a:rPr lang="en-US" sz="1400" b="0" i="0" u="none" strike="noStrike" cap="none" dirty="0">
                          <a:solidFill>
                            <a:schemeClr val="bg1"/>
                          </a:solidFill>
                          <a:effectLst/>
                          <a:latin typeface="Arial"/>
                          <a:ea typeface="Arial"/>
                          <a:cs typeface="Arial"/>
                          <a:sym typeface="Arial"/>
                        </a:rPr>
                        <a:t>STD-002-CPP, STD-008-CPP</a:t>
                      </a:r>
                      <a:endParaRPr lang="en-US" dirty="0">
                        <a:solidFill>
                          <a:schemeClr val="bg1"/>
                        </a:solidFill>
                      </a:endParaRPr>
                    </a:p>
                  </a:txBody>
                  <a:tcPr/>
                </a:tc>
                <a:extLst>
                  <a:ext uri="{0D108BD9-81ED-4DB2-BD59-A6C34878D82A}">
                    <a16:rowId xmlns:a16="http://schemas.microsoft.com/office/drawing/2014/main" val="3693787256"/>
                  </a:ext>
                </a:extLst>
              </a:tr>
              <a:tr h="370840">
                <a:tc>
                  <a:txBody>
                    <a:bodyPr/>
                    <a:lstStyle/>
                    <a:p>
                      <a:r>
                        <a:rPr lang="en-US" dirty="0">
                          <a:solidFill>
                            <a:schemeClr val="bg1"/>
                          </a:solidFill>
                        </a:rPr>
                        <a:t>5. Default Deny</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bg1"/>
                          </a:solidFill>
                          <a:effectLst/>
                          <a:latin typeface="Arial"/>
                          <a:ea typeface="Arial"/>
                          <a:cs typeface="Arial"/>
                          <a:sym typeface="Arial"/>
                        </a:rPr>
                        <a:t>STD-004-CPP</a:t>
                      </a:r>
                      <a:endParaRPr lang="en-US" dirty="0">
                        <a:solidFill>
                          <a:schemeClr val="bg1"/>
                        </a:solidFill>
                      </a:endParaRPr>
                    </a:p>
                  </a:txBody>
                  <a:tcPr/>
                </a:tc>
                <a:extLst>
                  <a:ext uri="{0D108BD9-81ED-4DB2-BD59-A6C34878D82A}">
                    <a16:rowId xmlns:a16="http://schemas.microsoft.com/office/drawing/2014/main" val="3336158196"/>
                  </a:ext>
                </a:extLst>
              </a:tr>
              <a:tr h="370840">
                <a:tc>
                  <a:txBody>
                    <a:bodyPr/>
                    <a:lstStyle/>
                    <a:p>
                      <a:r>
                        <a:rPr lang="en-US" dirty="0">
                          <a:solidFill>
                            <a:schemeClr val="bg1"/>
                          </a:solidFill>
                        </a:rPr>
                        <a:t>6. Principle of Least Privilege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bg1"/>
                          </a:solidFill>
                          <a:effectLst/>
                          <a:latin typeface="Arial"/>
                          <a:ea typeface="Arial"/>
                          <a:cs typeface="Arial"/>
                          <a:sym typeface="Arial"/>
                        </a:rPr>
                        <a:t>STD-009-CPP</a:t>
                      </a:r>
                      <a:endParaRPr lang="en-US" dirty="0">
                        <a:solidFill>
                          <a:schemeClr val="bg1"/>
                        </a:solidFill>
                      </a:endParaRPr>
                    </a:p>
                  </a:txBody>
                  <a:tcPr/>
                </a:tc>
                <a:extLst>
                  <a:ext uri="{0D108BD9-81ED-4DB2-BD59-A6C34878D82A}">
                    <a16:rowId xmlns:a16="http://schemas.microsoft.com/office/drawing/2014/main" val="2738841860"/>
                  </a:ext>
                </a:extLst>
              </a:tr>
              <a:tr h="370840">
                <a:tc>
                  <a:txBody>
                    <a:bodyPr/>
                    <a:lstStyle/>
                    <a:p>
                      <a:r>
                        <a:rPr lang="en-US" dirty="0">
                          <a:solidFill>
                            <a:schemeClr val="bg1"/>
                          </a:solidFill>
                        </a:rPr>
                        <a:t>7. Sanitize Data Sent to Other Systems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bg1"/>
                          </a:solidFill>
                          <a:effectLst/>
                          <a:latin typeface="Arial"/>
                          <a:ea typeface="Arial"/>
                          <a:cs typeface="Arial"/>
                          <a:sym typeface="Arial"/>
                        </a:rPr>
                        <a:t>STD-004-CPP</a:t>
                      </a:r>
                      <a:endParaRPr lang="en-US" dirty="0">
                        <a:solidFill>
                          <a:schemeClr val="bg1"/>
                        </a:solidFill>
                      </a:endParaRPr>
                    </a:p>
                  </a:txBody>
                  <a:tcPr/>
                </a:tc>
                <a:extLst>
                  <a:ext uri="{0D108BD9-81ED-4DB2-BD59-A6C34878D82A}">
                    <a16:rowId xmlns:a16="http://schemas.microsoft.com/office/drawing/2014/main" val="1215909645"/>
                  </a:ext>
                </a:extLst>
              </a:tr>
              <a:tr h="370840">
                <a:tc>
                  <a:txBody>
                    <a:bodyPr/>
                    <a:lstStyle/>
                    <a:p>
                      <a:r>
                        <a:rPr lang="en-US" dirty="0">
                          <a:solidFill>
                            <a:schemeClr val="bg1"/>
                          </a:solidFill>
                        </a:rPr>
                        <a:t>8. Practice Defense-in-Depth</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bg1"/>
                          </a:solidFill>
                          <a:effectLst/>
                          <a:latin typeface="Arial"/>
                          <a:ea typeface="Arial"/>
                          <a:cs typeface="Arial"/>
                          <a:sym typeface="Arial"/>
                        </a:rPr>
                        <a:t>STD-005-CPP</a:t>
                      </a:r>
                      <a:endParaRPr lang="en-US" dirty="0">
                        <a:solidFill>
                          <a:schemeClr val="bg1"/>
                        </a:solidFill>
                      </a:endParaRPr>
                    </a:p>
                  </a:txBody>
                  <a:tcPr/>
                </a:tc>
                <a:extLst>
                  <a:ext uri="{0D108BD9-81ED-4DB2-BD59-A6C34878D82A}">
                    <a16:rowId xmlns:a16="http://schemas.microsoft.com/office/drawing/2014/main" val="1556036522"/>
                  </a:ext>
                </a:extLst>
              </a:tr>
              <a:tr h="370840">
                <a:tc>
                  <a:txBody>
                    <a:bodyPr/>
                    <a:lstStyle/>
                    <a:p>
                      <a:r>
                        <a:rPr lang="en-US" dirty="0">
                          <a:solidFill>
                            <a:schemeClr val="bg1"/>
                          </a:solidFill>
                        </a:rPr>
                        <a:t>9. Effective Quality Assurance Techniques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bg1"/>
                          </a:solidFill>
                          <a:effectLst/>
                          <a:latin typeface="Arial"/>
                          <a:ea typeface="Arial"/>
                          <a:cs typeface="Arial"/>
                          <a:sym typeface="Arial"/>
                        </a:rPr>
                        <a:t>STD-003-CPP, STD-007-CPP</a:t>
                      </a:r>
                      <a:endParaRPr lang="en-US" dirty="0">
                        <a:solidFill>
                          <a:schemeClr val="bg1"/>
                        </a:solidFill>
                      </a:endParaRPr>
                    </a:p>
                  </a:txBody>
                  <a:tcPr/>
                </a:tc>
                <a:extLst>
                  <a:ext uri="{0D108BD9-81ED-4DB2-BD59-A6C34878D82A}">
                    <a16:rowId xmlns:a16="http://schemas.microsoft.com/office/drawing/2014/main" val="2730050955"/>
                  </a:ext>
                </a:extLst>
              </a:tr>
              <a:tr h="370840">
                <a:tc>
                  <a:txBody>
                    <a:bodyPr/>
                    <a:lstStyle/>
                    <a:p>
                      <a:r>
                        <a:rPr lang="en-US" dirty="0">
                          <a:solidFill>
                            <a:schemeClr val="bg1"/>
                          </a:solidFill>
                        </a:rPr>
                        <a:t>10. Adopt a Secure Coding Standard</a:t>
                      </a:r>
                    </a:p>
                  </a:txBody>
                  <a:tcPr/>
                </a:tc>
                <a:tc>
                  <a:txBody>
                    <a:bodyPr/>
                    <a:lstStyle/>
                    <a:p>
                      <a:r>
                        <a:rPr lang="en-US" sz="1400" b="0" i="0" u="none" strike="noStrike" cap="none" dirty="0">
                          <a:solidFill>
                            <a:schemeClr val="bg1"/>
                          </a:solidFill>
                          <a:effectLst/>
                          <a:latin typeface="Arial"/>
                          <a:ea typeface="Arial"/>
                          <a:cs typeface="Arial"/>
                          <a:sym typeface="Arial"/>
                        </a:rPr>
                        <a:t>STD-003-CPP, STD-008-CPP</a:t>
                      </a:r>
                      <a:endParaRPr lang="en-US" dirty="0">
                        <a:solidFill>
                          <a:schemeClr val="bg1"/>
                        </a:solidFill>
                      </a:endParaRPr>
                    </a:p>
                  </a:txBody>
                  <a:tcPr/>
                </a:tc>
                <a:extLst>
                  <a:ext uri="{0D108BD9-81ED-4DB2-BD59-A6C34878D82A}">
                    <a16:rowId xmlns:a16="http://schemas.microsoft.com/office/drawing/2014/main" val="612709497"/>
                  </a:ext>
                </a:extLst>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916774" y="411447"/>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CODING STANDARDS</a:t>
            </a:r>
            <a:br>
              <a:rPr lang="en-US" dirty="0"/>
            </a:br>
            <a:r>
              <a:rPr lang="en-US" dirty="0"/>
              <a:t>(Sorted </a:t>
            </a:r>
            <a:r>
              <a:rPr lang="en-US" dirty="0" err="1"/>
              <a:t>Asc</a:t>
            </a:r>
            <a:r>
              <a:rPr lang="en-US" dirty="0"/>
              <a:t>. by Priority)</a:t>
            </a: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CC8CA3FA-299F-CC09-C130-64FDA47CCAF0}"/>
              </a:ext>
            </a:extLst>
          </p:cNvPr>
          <p:cNvGraphicFramePr>
            <a:graphicFrameLocks noGrp="1"/>
          </p:cNvGraphicFramePr>
          <p:nvPr>
            <p:extLst>
              <p:ext uri="{D42A27DB-BD31-4B8C-83A1-F6EECF244321}">
                <p14:modId xmlns:p14="http://schemas.microsoft.com/office/powerpoint/2010/main" val="811025610"/>
              </p:ext>
            </p:extLst>
          </p:nvPr>
        </p:nvGraphicFramePr>
        <p:xfrm>
          <a:off x="1267325" y="2194560"/>
          <a:ext cx="9816749" cy="4103303"/>
        </p:xfrm>
        <a:graphic>
          <a:graphicData uri="http://schemas.openxmlformats.org/drawingml/2006/table">
            <a:tbl>
              <a:tblPr firstRow="1" bandRow="1">
                <a:tableStyleId>{802198C4-3087-4945-87E3-76CBB3509B7E}</a:tableStyleId>
              </a:tblPr>
              <a:tblGrid>
                <a:gridCol w="3823100">
                  <a:extLst>
                    <a:ext uri="{9D8B030D-6E8A-4147-A177-3AD203B41FA5}">
                      <a16:colId xmlns:a16="http://schemas.microsoft.com/office/drawing/2014/main" val="3747660365"/>
                    </a:ext>
                  </a:extLst>
                </a:gridCol>
                <a:gridCol w="5993649">
                  <a:extLst>
                    <a:ext uri="{9D8B030D-6E8A-4147-A177-3AD203B41FA5}">
                      <a16:colId xmlns:a16="http://schemas.microsoft.com/office/drawing/2014/main" val="144893133"/>
                    </a:ext>
                  </a:extLst>
                </a:gridCol>
              </a:tblGrid>
              <a:tr h="370840">
                <a:tc>
                  <a:txBody>
                    <a:bodyPr/>
                    <a:lstStyle/>
                    <a:p>
                      <a:pPr algn="ctr"/>
                      <a:r>
                        <a:rPr lang="en-US" sz="1800" b="1" dirty="0">
                          <a:solidFill>
                            <a:schemeClr val="bg1"/>
                          </a:solidFill>
                        </a:rPr>
                        <a:t>Coding Standard Name</a:t>
                      </a:r>
                      <a:endParaRPr lang="en-US" dirty="0">
                        <a:solidFill>
                          <a:schemeClr val="bg1"/>
                        </a:solidFill>
                      </a:endParaRPr>
                    </a:p>
                  </a:txBody>
                  <a:tcPr/>
                </a:tc>
                <a:tc>
                  <a:txBody>
                    <a:bodyPr/>
                    <a:lstStyle/>
                    <a:p>
                      <a:pPr algn="ctr"/>
                      <a:r>
                        <a:rPr lang="en-US" sz="1800" b="1" dirty="0">
                          <a:solidFill>
                            <a:schemeClr val="bg1"/>
                          </a:solidFill>
                        </a:rPr>
                        <a:t>Coding Standard Description</a:t>
                      </a:r>
                    </a:p>
                  </a:txBody>
                  <a:tcPr/>
                </a:tc>
                <a:extLst>
                  <a:ext uri="{0D108BD9-81ED-4DB2-BD59-A6C34878D82A}">
                    <a16:rowId xmlns:a16="http://schemas.microsoft.com/office/drawing/2014/main" val="2170247456"/>
                  </a:ext>
                </a:extLst>
              </a:tr>
              <a:tr h="370840">
                <a:tc>
                  <a:txBody>
                    <a:bodyPr/>
                    <a:lstStyle/>
                    <a:p>
                      <a:pPr marL="0" marR="0">
                        <a:buNone/>
                      </a:pPr>
                      <a:r>
                        <a:rPr lang="en-US" sz="1200" dirty="0">
                          <a:solidFill>
                            <a:schemeClr val="bg1"/>
                          </a:solidFill>
                          <a:effectLst/>
                          <a:latin typeface="Calibri" panose="020F0502020204030204" pitchFamily="34" charset="0"/>
                          <a:ea typeface="Calibri" panose="020F0502020204030204" pitchFamily="34" charset="0"/>
                        </a:rPr>
                        <a:t>STD-004-CPP</a:t>
                      </a:r>
                    </a:p>
                  </a:txBody>
                  <a:tcPr marL="68580" marR="68580" marT="0" marB="0"/>
                </a:tc>
                <a:tc>
                  <a:txBody>
                    <a:bodyPr/>
                    <a:lstStyle/>
                    <a:p>
                      <a:r>
                        <a:rPr lang="en-US" dirty="0">
                          <a:solidFill>
                            <a:schemeClr val="bg1"/>
                          </a:solidFill>
                        </a:rPr>
                        <a:t>Sanitize and Validate queries</a:t>
                      </a:r>
                    </a:p>
                  </a:txBody>
                  <a:tcPr/>
                </a:tc>
                <a:extLst>
                  <a:ext uri="{0D108BD9-81ED-4DB2-BD59-A6C34878D82A}">
                    <a16:rowId xmlns:a16="http://schemas.microsoft.com/office/drawing/2014/main" val="2657865422"/>
                  </a:ext>
                </a:extLst>
              </a:tr>
              <a:tr h="370840">
                <a:tc>
                  <a:txBody>
                    <a:bodyPr/>
                    <a:lstStyle/>
                    <a:p>
                      <a:pPr marL="0" marR="0">
                        <a:buNone/>
                      </a:pPr>
                      <a:r>
                        <a:rPr lang="en-US" sz="1200" dirty="0">
                          <a:solidFill>
                            <a:schemeClr val="bg1"/>
                          </a:solidFill>
                          <a:effectLst/>
                          <a:latin typeface="Calibri" panose="020F0502020204030204" pitchFamily="34" charset="0"/>
                          <a:ea typeface="Calibri" panose="020F0502020204030204" pitchFamily="34" charset="0"/>
                        </a:rPr>
                        <a:t>STD-001-CPP</a:t>
                      </a:r>
                    </a:p>
                  </a:txBody>
                  <a:tcPr marL="68580" marR="68580" marT="0" marB="0"/>
                </a:tc>
                <a:tc>
                  <a:txBody>
                    <a:bodyPr/>
                    <a:lstStyle/>
                    <a:p>
                      <a:r>
                        <a:rPr lang="en-US" dirty="0">
                          <a:solidFill>
                            <a:schemeClr val="bg1"/>
                          </a:solidFill>
                        </a:rPr>
                        <a:t>Use header files to introduce objects. Consider Value limits</a:t>
                      </a:r>
                    </a:p>
                  </a:txBody>
                  <a:tcPr/>
                </a:tc>
                <a:extLst>
                  <a:ext uri="{0D108BD9-81ED-4DB2-BD59-A6C34878D82A}">
                    <a16:rowId xmlns:a16="http://schemas.microsoft.com/office/drawing/2014/main" val="1209301522"/>
                  </a:ext>
                </a:extLst>
              </a:tr>
              <a:tr h="370840">
                <a:tc>
                  <a:txBody>
                    <a:bodyPr/>
                    <a:lstStyle/>
                    <a:p>
                      <a:pPr marL="0" marR="0">
                        <a:buNone/>
                      </a:pPr>
                      <a:r>
                        <a:rPr lang="en-US" sz="1200" dirty="0">
                          <a:solidFill>
                            <a:schemeClr val="bg1"/>
                          </a:solidFill>
                          <a:effectLst/>
                          <a:latin typeface="Calibri" panose="020F0502020204030204" pitchFamily="34" charset="0"/>
                          <a:ea typeface="Calibri" panose="020F0502020204030204" pitchFamily="34" charset="0"/>
                        </a:rPr>
                        <a:t>STD-005-CPP</a:t>
                      </a:r>
                    </a:p>
                  </a:txBody>
                  <a:tcPr marL="68580" marR="68580" marT="0" marB="0"/>
                </a:tc>
                <a:tc>
                  <a:txBody>
                    <a:bodyPr/>
                    <a:lstStyle/>
                    <a:p>
                      <a:r>
                        <a:rPr lang="en-US" dirty="0">
                          <a:solidFill>
                            <a:schemeClr val="bg1"/>
                          </a:solidFill>
                        </a:rPr>
                        <a:t>Check for successful Memory Allocation before proceeding</a:t>
                      </a:r>
                    </a:p>
                  </a:txBody>
                  <a:tcPr/>
                </a:tc>
                <a:extLst>
                  <a:ext uri="{0D108BD9-81ED-4DB2-BD59-A6C34878D82A}">
                    <a16:rowId xmlns:a16="http://schemas.microsoft.com/office/drawing/2014/main" val="856383006"/>
                  </a:ext>
                </a:extLst>
              </a:tr>
              <a:tr h="370840">
                <a:tc>
                  <a:txBody>
                    <a:bodyPr/>
                    <a:lstStyle/>
                    <a:p>
                      <a:pPr marL="0" marR="0">
                        <a:buNone/>
                      </a:pPr>
                      <a:r>
                        <a:rPr lang="en-US" sz="1200" dirty="0">
                          <a:solidFill>
                            <a:schemeClr val="bg1"/>
                          </a:solidFill>
                          <a:effectLst/>
                          <a:latin typeface="Calibri" panose="020F0502020204030204" pitchFamily="34" charset="0"/>
                          <a:ea typeface="Calibri" panose="020F0502020204030204" pitchFamily="34" charset="0"/>
                        </a:rPr>
                        <a:t>STD-007-CPP</a:t>
                      </a:r>
                    </a:p>
                  </a:txBody>
                  <a:tcPr marL="68580" marR="68580" marT="0" marB="0"/>
                </a:tc>
                <a:tc>
                  <a:txBody>
                    <a:bodyPr/>
                    <a:lstStyle/>
                    <a:p>
                      <a:r>
                        <a:rPr lang="en-US" dirty="0">
                          <a:solidFill>
                            <a:schemeClr val="bg1"/>
                          </a:solidFill>
                        </a:rPr>
                        <a:t>Do not leak resources. Be sure exceptions are handled properly</a:t>
                      </a:r>
                    </a:p>
                  </a:txBody>
                  <a:tcPr/>
                </a:tc>
                <a:extLst>
                  <a:ext uri="{0D108BD9-81ED-4DB2-BD59-A6C34878D82A}">
                    <a16:rowId xmlns:a16="http://schemas.microsoft.com/office/drawing/2014/main" val="3460636559"/>
                  </a:ext>
                </a:extLst>
              </a:tr>
              <a:tr h="394903">
                <a:tc>
                  <a:txBody>
                    <a:bodyPr/>
                    <a:lstStyle/>
                    <a:p>
                      <a:pPr marL="0" marR="0">
                        <a:buNone/>
                      </a:pPr>
                      <a:r>
                        <a:rPr lang="en-US" sz="1200" dirty="0">
                          <a:solidFill>
                            <a:schemeClr val="bg1"/>
                          </a:solidFill>
                          <a:effectLst/>
                          <a:latin typeface="Calibri" panose="020F0502020204030204" pitchFamily="34" charset="0"/>
                          <a:ea typeface="Calibri" panose="020F0502020204030204" pitchFamily="34" charset="0"/>
                        </a:rPr>
                        <a:t>STD-009-CPP</a:t>
                      </a:r>
                    </a:p>
                  </a:txBody>
                  <a:tcPr marL="68580" marR="68580" marT="0" marB="0"/>
                </a:tc>
                <a:tc>
                  <a:txBody>
                    <a:bodyPr/>
                    <a:lstStyle/>
                    <a:p>
                      <a:r>
                        <a:rPr lang="en-US" dirty="0">
                          <a:solidFill>
                            <a:schemeClr val="bg1"/>
                          </a:solidFill>
                        </a:rPr>
                        <a:t>Close files when they are no longer required</a:t>
                      </a:r>
                    </a:p>
                  </a:txBody>
                  <a:tcPr/>
                </a:tc>
                <a:extLst>
                  <a:ext uri="{0D108BD9-81ED-4DB2-BD59-A6C34878D82A}">
                    <a16:rowId xmlns:a16="http://schemas.microsoft.com/office/drawing/2014/main" val="1858555284"/>
                  </a:ext>
                </a:extLst>
              </a:tr>
              <a:tr h="370840">
                <a:tc>
                  <a:txBody>
                    <a:bodyPr/>
                    <a:lstStyle/>
                    <a:p>
                      <a:pPr marL="0" marR="0">
                        <a:buNone/>
                      </a:pPr>
                      <a:r>
                        <a:rPr lang="en-US" sz="1200" dirty="0">
                          <a:solidFill>
                            <a:schemeClr val="bg1"/>
                          </a:solidFill>
                          <a:effectLst/>
                          <a:latin typeface="Calibri" panose="020F0502020204030204" pitchFamily="34" charset="0"/>
                          <a:ea typeface="Calibri" panose="020F0502020204030204" pitchFamily="34" charset="0"/>
                        </a:rPr>
                        <a:t>STD-003-CPP</a:t>
                      </a:r>
                    </a:p>
                  </a:txBody>
                  <a:tcPr marL="68580" marR="68580" marT="0" marB="0"/>
                </a:tc>
                <a:tc>
                  <a:txBody>
                    <a:bodyPr/>
                    <a:lstStyle/>
                    <a:p>
                      <a:r>
                        <a:rPr lang="en-US" sz="1400" dirty="0">
                          <a:solidFill>
                            <a:schemeClr val="bg1"/>
                          </a:solidFill>
                        </a:rPr>
                        <a:t>Range check element access</a:t>
                      </a:r>
                    </a:p>
                  </a:txBody>
                  <a:tcPr/>
                </a:tc>
                <a:extLst>
                  <a:ext uri="{0D108BD9-81ED-4DB2-BD59-A6C34878D82A}">
                    <a16:rowId xmlns:a16="http://schemas.microsoft.com/office/drawing/2014/main" val="1603059292"/>
                  </a:ext>
                </a:extLst>
              </a:tr>
              <a:tr h="370840">
                <a:tc>
                  <a:txBody>
                    <a:bodyPr/>
                    <a:lstStyle/>
                    <a:p>
                      <a:pPr marL="0" marR="0">
                        <a:buNone/>
                      </a:pPr>
                      <a:r>
                        <a:rPr lang="en-US" sz="1200" dirty="0">
                          <a:solidFill>
                            <a:schemeClr val="bg1"/>
                          </a:solidFill>
                          <a:effectLst/>
                          <a:latin typeface="Calibri" panose="020F0502020204030204" pitchFamily="34" charset="0"/>
                          <a:ea typeface="Calibri" panose="020F0502020204030204" pitchFamily="34" charset="0"/>
                        </a:rPr>
                        <a:t>STD-010-CPP</a:t>
                      </a:r>
                    </a:p>
                  </a:txBody>
                  <a:tcPr marL="68580" marR="68580" marT="0" marB="0"/>
                </a:tc>
                <a:tc>
                  <a:txBody>
                    <a:bodyPr/>
                    <a:lstStyle/>
                    <a:p>
                      <a:r>
                        <a:rPr lang="en-US" dirty="0">
                          <a:solidFill>
                            <a:schemeClr val="bg1"/>
                          </a:solidFill>
                        </a:rPr>
                        <a:t>Do not attempt to modify String Literals</a:t>
                      </a:r>
                    </a:p>
                  </a:txBody>
                  <a:tcPr/>
                </a:tc>
                <a:extLst>
                  <a:ext uri="{0D108BD9-81ED-4DB2-BD59-A6C34878D82A}">
                    <a16:rowId xmlns:a16="http://schemas.microsoft.com/office/drawing/2014/main" val="3367931497"/>
                  </a:ext>
                </a:extLst>
              </a:tr>
              <a:tr h="370840">
                <a:tc>
                  <a:txBody>
                    <a:bodyPr/>
                    <a:lstStyle/>
                    <a:p>
                      <a:pPr marL="0" marR="0">
                        <a:buNone/>
                      </a:pPr>
                      <a:r>
                        <a:rPr lang="en-US" sz="1200" dirty="0">
                          <a:solidFill>
                            <a:schemeClr val="bg1"/>
                          </a:solidFill>
                          <a:effectLst/>
                          <a:latin typeface="Calibri" panose="020F0502020204030204" pitchFamily="34" charset="0"/>
                          <a:ea typeface="Calibri" panose="020F0502020204030204" pitchFamily="34" charset="0"/>
                        </a:rPr>
                        <a:t>STD-002-CPP</a:t>
                      </a:r>
                    </a:p>
                  </a:txBody>
                  <a:tcPr marL="68580" marR="68580" marT="0" marB="0"/>
                </a:tc>
                <a:tc>
                  <a:txBody>
                    <a:bodyPr/>
                    <a:lstStyle/>
                    <a:p>
                      <a:r>
                        <a:rPr lang="en-US" sz="1400" dirty="0">
                          <a:solidFill>
                            <a:schemeClr val="bg1"/>
                          </a:solidFill>
                        </a:rPr>
                        <a:t>Value-returning functions must return a value from all exit paths</a:t>
                      </a:r>
                    </a:p>
                  </a:txBody>
                  <a:tcPr/>
                </a:tc>
                <a:extLst>
                  <a:ext uri="{0D108BD9-81ED-4DB2-BD59-A6C34878D82A}">
                    <a16:rowId xmlns:a16="http://schemas.microsoft.com/office/drawing/2014/main" val="3880117968"/>
                  </a:ext>
                </a:extLst>
              </a:tr>
              <a:tr h="370840">
                <a:tc>
                  <a:txBody>
                    <a:bodyPr/>
                    <a:lstStyle/>
                    <a:p>
                      <a:pPr marL="0" marR="0">
                        <a:buNone/>
                      </a:pPr>
                      <a:r>
                        <a:rPr lang="en-US" sz="1200" dirty="0">
                          <a:solidFill>
                            <a:schemeClr val="bg1"/>
                          </a:solidFill>
                          <a:effectLst/>
                          <a:latin typeface="Calibri" panose="020F0502020204030204" pitchFamily="34" charset="0"/>
                          <a:ea typeface="Calibri" panose="020F0502020204030204" pitchFamily="34" charset="0"/>
                        </a:rPr>
                        <a:t>STD-006-CPP</a:t>
                      </a:r>
                    </a:p>
                  </a:txBody>
                  <a:tcPr marL="68580" marR="68580" marT="0" marB="0"/>
                </a:tc>
                <a:tc>
                  <a:txBody>
                    <a:bodyPr/>
                    <a:lstStyle/>
                    <a:p>
                      <a:r>
                        <a:rPr lang="en-US" sz="1400" dirty="0">
                          <a:solidFill>
                            <a:schemeClr val="bg1"/>
                          </a:solidFill>
                        </a:rPr>
                        <a:t>Understand the termination behavior of assert() and abort()</a:t>
                      </a:r>
                    </a:p>
                  </a:txBody>
                  <a:tcPr/>
                </a:tc>
                <a:extLst>
                  <a:ext uri="{0D108BD9-81ED-4DB2-BD59-A6C34878D82A}">
                    <a16:rowId xmlns:a16="http://schemas.microsoft.com/office/drawing/2014/main" val="3241017267"/>
                  </a:ext>
                </a:extLst>
              </a:tr>
              <a:tr h="370840">
                <a:tc>
                  <a:txBody>
                    <a:bodyPr/>
                    <a:lstStyle/>
                    <a:p>
                      <a:pPr marL="0" marR="0">
                        <a:buNone/>
                      </a:pPr>
                      <a:r>
                        <a:rPr lang="en-US" sz="1200" dirty="0">
                          <a:solidFill>
                            <a:schemeClr val="bg1"/>
                          </a:solidFill>
                          <a:effectLst/>
                          <a:latin typeface="Calibri" panose="020F0502020204030204" pitchFamily="34" charset="0"/>
                          <a:ea typeface="Calibri" panose="020F0502020204030204" pitchFamily="34" charset="0"/>
                        </a:rPr>
                        <a:t>STD-008-CPP</a:t>
                      </a:r>
                    </a:p>
                  </a:txBody>
                  <a:tcPr marL="68580" marR="68580" marT="0" marB="0"/>
                </a:tc>
                <a:tc>
                  <a:txBody>
                    <a:bodyPr/>
                    <a:lstStyle/>
                    <a:p>
                      <a:r>
                        <a:rPr lang="en-US" dirty="0">
                          <a:solidFill>
                            <a:schemeClr val="bg1"/>
                          </a:solidFill>
                        </a:rPr>
                        <a:t>Write constructor member initializers in the canonical order</a:t>
                      </a:r>
                    </a:p>
                  </a:txBody>
                  <a:tcPr/>
                </a:tc>
                <a:extLst>
                  <a:ext uri="{0D108BD9-81ED-4DB2-BD59-A6C34878D82A}">
                    <a16:rowId xmlns:a16="http://schemas.microsoft.com/office/drawing/2014/main" val="1520870658"/>
                  </a:ext>
                </a:extLst>
              </a:tr>
            </a:tbl>
          </a:graphicData>
        </a:graphic>
      </p:graphicFrame>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3" name="Table 2">
            <a:extLst>
              <a:ext uri="{FF2B5EF4-FFF2-40B4-BE49-F238E27FC236}">
                <a16:creationId xmlns:a16="http://schemas.microsoft.com/office/drawing/2014/main" id="{A537EDEA-8CE6-12FF-5496-7635D41370AF}"/>
              </a:ext>
            </a:extLst>
          </p:cNvPr>
          <p:cNvGraphicFramePr>
            <a:graphicFrameLocks noGrp="1"/>
          </p:cNvGraphicFramePr>
          <p:nvPr>
            <p:extLst>
              <p:ext uri="{D42A27DB-BD31-4B8C-83A1-F6EECF244321}">
                <p14:modId xmlns:p14="http://schemas.microsoft.com/office/powerpoint/2010/main" val="2564311038"/>
              </p:ext>
            </p:extLst>
          </p:nvPr>
        </p:nvGraphicFramePr>
        <p:xfrm>
          <a:off x="417096" y="1823494"/>
          <a:ext cx="10666978" cy="4651639"/>
        </p:xfrm>
        <a:graphic>
          <a:graphicData uri="http://schemas.openxmlformats.org/drawingml/2006/table">
            <a:tbl>
              <a:tblPr firstRow="1" firstCol="1">
                <a:tableStyleId>{802198C4-3087-4945-87E3-76CBB3509B7E}</a:tableStyleId>
              </a:tblPr>
              <a:tblGrid>
                <a:gridCol w="1885027">
                  <a:extLst>
                    <a:ext uri="{9D8B030D-6E8A-4147-A177-3AD203B41FA5}">
                      <a16:colId xmlns:a16="http://schemas.microsoft.com/office/drawing/2014/main" val="382605402"/>
                    </a:ext>
                  </a:extLst>
                </a:gridCol>
                <a:gridCol w="8781951">
                  <a:extLst>
                    <a:ext uri="{9D8B030D-6E8A-4147-A177-3AD203B41FA5}">
                      <a16:colId xmlns:a16="http://schemas.microsoft.com/office/drawing/2014/main" val="741471016"/>
                    </a:ext>
                  </a:extLst>
                </a:gridCol>
              </a:tblGrid>
              <a:tr h="430159">
                <a:tc>
                  <a:txBody>
                    <a:bodyPr/>
                    <a:lstStyle/>
                    <a:p>
                      <a:pPr marL="0" marR="0" lvl="0" indent="0" algn="ctr">
                        <a:buFont typeface="+mj-lt"/>
                        <a:buNone/>
                      </a:pPr>
                      <a:r>
                        <a:rPr lang="en-US" sz="1800" u="none" strike="noStrike" dirty="0">
                          <a:solidFill>
                            <a:schemeClr val="bg1"/>
                          </a:solidFill>
                          <a:effectLst/>
                        </a:rPr>
                        <a:t>Encryption</a:t>
                      </a:r>
                      <a:endParaRPr lang="en-US" sz="1800" u="none" strike="noStrike" dirty="0">
                        <a:solidFill>
                          <a:schemeClr val="bg1"/>
                        </a:solidFill>
                        <a:effectLst/>
                        <a:latin typeface="Calibri" panose="020F0502020204030204" pitchFamily="34" charset="0"/>
                        <a:ea typeface="Calibri" panose="020F0502020204030204" pitchFamily="34" charset="0"/>
                      </a:endParaRPr>
                    </a:p>
                  </a:txBody>
                  <a:tcPr marL="63500" marR="63500" marT="63500" marB="63500" anchor="b"/>
                </a:tc>
                <a:tc>
                  <a:txBody>
                    <a:bodyPr/>
                    <a:lstStyle/>
                    <a:p>
                      <a:pPr marL="0" marR="0" algn="ctr">
                        <a:buNone/>
                      </a:pPr>
                      <a:r>
                        <a:rPr lang="en-US" sz="1800" dirty="0">
                          <a:solidFill>
                            <a:schemeClr val="bg1"/>
                          </a:solidFill>
                          <a:effectLst/>
                        </a:rPr>
                        <a:t>Explain what it is and how and why the policy applies.</a:t>
                      </a:r>
                      <a:endParaRPr lang="en-US" sz="1800" dirty="0">
                        <a:solidFill>
                          <a:schemeClr val="bg1"/>
                        </a:solidFill>
                        <a:effectLst/>
                        <a:latin typeface="Calibri" panose="020F0502020204030204" pitchFamily="34" charset="0"/>
                        <a:ea typeface="Calibri" panose="020F0502020204030204" pitchFamily="34" charset="0"/>
                      </a:endParaRPr>
                    </a:p>
                  </a:txBody>
                  <a:tcPr marL="63500" marR="63500" marT="63500" marB="63500" anchor="b"/>
                </a:tc>
                <a:extLst>
                  <a:ext uri="{0D108BD9-81ED-4DB2-BD59-A6C34878D82A}">
                    <a16:rowId xmlns:a16="http://schemas.microsoft.com/office/drawing/2014/main" val="1696166385"/>
                  </a:ext>
                </a:extLst>
              </a:tr>
              <a:tr h="1445614">
                <a:tc>
                  <a:txBody>
                    <a:bodyPr/>
                    <a:lstStyle/>
                    <a:p>
                      <a:pPr marL="0" marR="0" algn="ctr">
                        <a:buNone/>
                      </a:pPr>
                      <a:r>
                        <a:rPr lang="en-US" sz="1800" dirty="0">
                          <a:solidFill>
                            <a:schemeClr val="bg1"/>
                          </a:solidFill>
                          <a:effectLst/>
                        </a:rPr>
                        <a:t>Encryption at rest</a:t>
                      </a:r>
                      <a:endParaRPr lang="en-US" sz="1800" dirty="0">
                        <a:solidFill>
                          <a:schemeClr val="bg1"/>
                        </a:solidFill>
                        <a:effectLst/>
                        <a:latin typeface="Calibri" panose="020F0502020204030204" pitchFamily="34" charset="0"/>
                        <a:ea typeface="Calibri" panose="020F0502020204030204" pitchFamily="34" charset="0"/>
                      </a:endParaRPr>
                    </a:p>
                  </a:txBody>
                  <a:tcPr marL="63500" marR="63500" marT="63500" marB="63500"/>
                </a:tc>
                <a:tc>
                  <a:txBody>
                    <a:bodyPr/>
                    <a:lstStyle/>
                    <a:p>
                      <a:pPr marL="0" marR="0" algn="ctr">
                        <a:buNone/>
                      </a:pPr>
                      <a:r>
                        <a:rPr lang="en-US" sz="1800" dirty="0">
                          <a:solidFill>
                            <a:schemeClr val="bg1"/>
                          </a:solidFill>
                          <a:effectLst/>
                        </a:rPr>
                        <a:t>This type of encryption is what protects any data that is stored on a device such as hard drives and smartphones. Only users who are authorized and select applications can decrypt this data when the access is requested so long as the encryption key they have is correct. </a:t>
                      </a:r>
                      <a:r>
                        <a:rPr lang="en-US" sz="1800" u="sng" dirty="0">
                          <a:solidFill>
                            <a:schemeClr val="bg1"/>
                          </a:solidFill>
                          <a:effectLst/>
                        </a:rPr>
                        <a:t>This is a foundational part of any good Defense in Depth, and it helps to enforce regulated compliance. </a:t>
                      </a:r>
                      <a:endParaRPr lang="en-US" sz="1800" dirty="0">
                        <a:solidFill>
                          <a:schemeClr val="bg1"/>
                        </a:solidFill>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217089067"/>
                  </a:ext>
                </a:extLst>
              </a:tr>
              <a:tr h="1445614">
                <a:tc>
                  <a:txBody>
                    <a:bodyPr/>
                    <a:lstStyle/>
                    <a:p>
                      <a:pPr marL="0" marR="0" algn="ctr">
                        <a:buNone/>
                      </a:pPr>
                      <a:r>
                        <a:rPr lang="en-US" sz="1800">
                          <a:solidFill>
                            <a:schemeClr val="bg1"/>
                          </a:solidFill>
                          <a:effectLst/>
                        </a:rPr>
                        <a:t>Encryption in flight</a:t>
                      </a:r>
                      <a:endParaRPr lang="en-US" sz="1800">
                        <a:solidFill>
                          <a:schemeClr val="bg1"/>
                        </a:solidFill>
                        <a:effectLst/>
                        <a:latin typeface="Calibri" panose="020F0502020204030204" pitchFamily="34" charset="0"/>
                        <a:ea typeface="Calibri" panose="020F0502020204030204" pitchFamily="34" charset="0"/>
                      </a:endParaRPr>
                    </a:p>
                  </a:txBody>
                  <a:tcPr marL="63500" marR="63500" marT="63500" marB="63500"/>
                </a:tc>
                <a:tc>
                  <a:txBody>
                    <a:bodyPr/>
                    <a:lstStyle/>
                    <a:p>
                      <a:pPr marL="0" marR="0" algn="ctr">
                        <a:buNone/>
                      </a:pPr>
                      <a:r>
                        <a:rPr lang="en-US" sz="1800">
                          <a:solidFill>
                            <a:schemeClr val="bg1"/>
                          </a:solidFill>
                          <a:effectLst/>
                        </a:rPr>
                        <a:t>This type of encryption is what protects any data that is in motion or travel. A few examples of this would be data being moved between networks, clients, and services. The design was created to prevent any sort of tampering or monitoring on server links. </a:t>
                      </a:r>
                      <a:r>
                        <a:rPr lang="en-US" sz="1800" u="sng">
                          <a:solidFill>
                            <a:schemeClr val="bg1"/>
                          </a:solidFill>
                          <a:effectLst/>
                        </a:rPr>
                        <a:t>This is a great way to ensure that the data received is the same data that was sent out.</a:t>
                      </a:r>
                      <a:endParaRPr lang="en-US" sz="1800">
                        <a:solidFill>
                          <a:schemeClr val="bg1"/>
                        </a:solidFill>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1129188678"/>
                  </a:ext>
                </a:extLst>
              </a:tr>
              <a:tr h="1191750">
                <a:tc>
                  <a:txBody>
                    <a:bodyPr/>
                    <a:lstStyle/>
                    <a:p>
                      <a:pPr marL="0" marR="0" algn="ctr">
                        <a:buNone/>
                      </a:pPr>
                      <a:r>
                        <a:rPr lang="en-US" sz="1800">
                          <a:solidFill>
                            <a:schemeClr val="bg1"/>
                          </a:solidFill>
                          <a:effectLst/>
                        </a:rPr>
                        <a:t>Encryption in use</a:t>
                      </a:r>
                      <a:endParaRPr lang="en-US" sz="1800">
                        <a:solidFill>
                          <a:schemeClr val="bg1"/>
                        </a:solidFill>
                        <a:effectLst/>
                        <a:latin typeface="Calibri" panose="020F0502020204030204" pitchFamily="34" charset="0"/>
                        <a:ea typeface="Calibri" panose="020F0502020204030204" pitchFamily="34" charset="0"/>
                      </a:endParaRPr>
                    </a:p>
                  </a:txBody>
                  <a:tcPr marL="63500" marR="63500" marT="63500" marB="63500"/>
                </a:tc>
                <a:tc>
                  <a:txBody>
                    <a:bodyPr/>
                    <a:lstStyle/>
                    <a:p>
                      <a:pPr marL="0" marR="0" algn="ctr">
                        <a:buNone/>
                      </a:pPr>
                      <a:r>
                        <a:rPr lang="en-US" sz="1800" dirty="0">
                          <a:solidFill>
                            <a:schemeClr val="bg1"/>
                          </a:solidFill>
                          <a:effectLst/>
                        </a:rPr>
                        <a:t>This type of encryption is what protects any data that is being handled or processed by a computer system. A few examples of this include actively edited, read, or processed files. </a:t>
                      </a:r>
                      <a:r>
                        <a:rPr lang="en-US" sz="1800" u="sng" dirty="0">
                          <a:solidFill>
                            <a:schemeClr val="bg1"/>
                          </a:solidFill>
                          <a:effectLst/>
                        </a:rPr>
                        <a:t>This helps to stop threats by ensuring they cannot steal usable data from active memory.</a:t>
                      </a:r>
                      <a:r>
                        <a:rPr lang="en-US" sz="1800" dirty="0">
                          <a:solidFill>
                            <a:schemeClr val="bg1"/>
                          </a:solidFill>
                          <a:effectLst/>
                        </a:rPr>
                        <a:t> </a:t>
                      </a:r>
                      <a:endParaRPr lang="en-US" sz="1800" dirty="0">
                        <a:solidFill>
                          <a:schemeClr val="bg1"/>
                        </a:solidFill>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687646819"/>
                  </a:ext>
                </a:extLst>
              </a:tr>
            </a:tbl>
          </a:graphicData>
        </a:graphic>
      </p:graphicFrame>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TRIPLE-A POLICIES</a:t>
            </a:r>
            <a:endParaRPr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E2787C33-CE62-529A-85D9-FC3F35F5F4AA}"/>
              </a:ext>
            </a:extLst>
          </p:cNvPr>
          <p:cNvGraphicFramePr>
            <a:graphicFrameLocks noGrp="1"/>
          </p:cNvGraphicFramePr>
          <p:nvPr>
            <p:extLst>
              <p:ext uri="{D42A27DB-BD31-4B8C-83A1-F6EECF244321}">
                <p14:modId xmlns:p14="http://schemas.microsoft.com/office/powerpoint/2010/main" val="3413274830"/>
              </p:ext>
            </p:extLst>
          </p:nvPr>
        </p:nvGraphicFramePr>
        <p:xfrm>
          <a:off x="529389" y="1892968"/>
          <a:ext cx="10554685" cy="4696784"/>
        </p:xfrm>
        <a:graphic>
          <a:graphicData uri="http://schemas.openxmlformats.org/drawingml/2006/table">
            <a:tbl>
              <a:tblPr firstRow="1" firstCol="1">
                <a:tableStyleId>{802198C4-3087-4945-87E3-76CBB3509B7E}</a:tableStyleId>
              </a:tblPr>
              <a:tblGrid>
                <a:gridCol w="2030651">
                  <a:extLst>
                    <a:ext uri="{9D8B030D-6E8A-4147-A177-3AD203B41FA5}">
                      <a16:colId xmlns:a16="http://schemas.microsoft.com/office/drawing/2014/main" val="3645292110"/>
                    </a:ext>
                  </a:extLst>
                </a:gridCol>
                <a:gridCol w="8524034">
                  <a:extLst>
                    <a:ext uri="{9D8B030D-6E8A-4147-A177-3AD203B41FA5}">
                      <a16:colId xmlns:a16="http://schemas.microsoft.com/office/drawing/2014/main" val="3290609292"/>
                    </a:ext>
                  </a:extLst>
                </a:gridCol>
              </a:tblGrid>
              <a:tr h="918524">
                <a:tc>
                  <a:txBody>
                    <a:bodyPr/>
                    <a:lstStyle/>
                    <a:p>
                      <a:pPr marL="0" marR="0" lvl="0" indent="0" algn="ctr">
                        <a:buFont typeface="+mj-lt"/>
                        <a:buNone/>
                      </a:pPr>
                      <a:r>
                        <a:rPr lang="en-US" sz="1800" u="none" strike="noStrike" dirty="0">
                          <a:solidFill>
                            <a:schemeClr val="bg1"/>
                          </a:solidFill>
                          <a:effectLst/>
                        </a:rPr>
                        <a:t>Triple-A Framework*</a:t>
                      </a:r>
                      <a:endParaRPr lang="en-US" sz="1800" u="none" strike="noStrike" dirty="0">
                        <a:solidFill>
                          <a:schemeClr val="bg1"/>
                        </a:solidFill>
                        <a:effectLst/>
                        <a:latin typeface="Calibri" panose="020F0502020204030204" pitchFamily="34" charset="0"/>
                        <a:ea typeface="Calibri" panose="020F0502020204030204" pitchFamily="34" charset="0"/>
                      </a:endParaRPr>
                    </a:p>
                  </a:txBody>
                  <a:tcPr marL="63500" marR="63500" marT="63500" marB="63500"/>
                </a:tc>
                <a:tc>
                  <a:txBody>
                    <a:bodyPr/>
                    <a:lstStyle/>
                    <a:p>
                      <a:pPr marL="0" marR="0" algn="ctr">
                        <a:buNone/>
                      </a:pPr>
                      <a:r>
                        <a:rPr lang="en-US" sz="1800">
                          <a:solidFill>
                            <a:schemeClr val="bg1"/>
                          </a:solidFill>
                          <a:effectLst/>
                        </a:rPr>
                        <a:t>Explain what it is and how and why the policy applies.</a:t>
                      </a:r>
                      <a:endParaRPr lang="en-US" sz="1800">
                        <a:solidFill>
                          <a:schemeClr val="bg1"/>
                        </a:solidFill>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1471218618"/>
                  </a:ext>
                </a:extLst>
              </a:tr>
              <a:tr h="1259420">
                <a:tc>
                  <a:txBody>
                    <a:bodyPr/>
                    <a:lstStyle/>
                    <a:p>
                      <a:pPr marL="0" marR="0" algn="ctr">
                        <a:buNone/>
                      </a:pPr>
                      <a:r>
                        <a:rPr lang="en-US" sz="1800">
                          <a:solidFill>
                            <a:schemeClr val="bg1"/>
                          </a:solidFill>
                          <a:effectLst/>
                        </a:rPr>
                        <a:t>Authentication</a:t>
                      </a:r>
                      <a:endParaRPr lang="en-US" sz="1800">
                        <a:solidFill>
                          <a:schemeClr val="bg1"/>
                        </a:solidFill>
                        <a:effectLst/>
                        <a:latin typeface="Calibri" panose="020F0502020204030204" pitchFamily="34" charset="0"/>
                        <a:ea typeface="Calibri" panose="020F0502020204030204" pitchFamily="34" charset="0"/>
                      </a:endParaRPr>
                    </a:p>
                  </a:txBody>
                  <a:tcPr marL="63500" marR="63500" marT="63500" marB="63500"/>
                </a:tc>
                <a:tc>
                  <a:txBody>
                    <a:bodyPr/>
                    <a:lstStyle/>
                    <a:p>
                      <a:pPr marL="0" marR="0" algn="ctr">
                        <a:buNone/>
                      </a:pPr>
                      <a:r>
                        <a:rPr lang="en-US" sz="1800" dirty="0">
                          <a:solidFill>
                            <a:schemeClr val="bg1"/>
                          </a:solidFill>
                          <a:effectLst/>
                        </a:rPr>
                        <a:t>This is a great way to verify that the user signing in is exactly who they say they are. Multi-Factor Authentication is a great way to minimize risk of someone accessing data after a successful phishing attempt. . </a:t>
                      </a:r>
                      <a:endParaRPr lang="en-US" sz="1800" dirty="0">
                        <a:solidFill>
                          <a:schemeClr val="bg1"/>
                        </a:solidFill>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2414162394"/>
                  </a:ext>
                </a:extLst>
              </a:tr>
              <a:tr h="1259420">
                <a:tc>
                  <a:txBody>
                    <a:bodyPr/>
                    <a:lstStyle/>
                    <a:p>
                      <a:pPr marL="0" marR="0" algn="ctr">
                        <a:buNone/>
                      </a:pPr>
                      <a:r>
                        <a:rPr lang="en-US" sz="1800">
                          <a:solidFill>
                            <a:schemeClr val="bg1"/>
                          </a:solidFill>
                          <a:effectLst/>
                        </a:rPr>
                        <a:t>Authorization</a:t>
                      </a:r>
                      <a:endParaRPr lang="en-US" sz="1800">
                        <a:solidFill>
                          <a:schemeClr val="bg1"/>
                        </a:solidFill>
                        <a:effectLst/>
                        <a:latin typeface="Calibri" panose="020F0502020204030204" pitchFamily="34" charset="0"/>
                        <a:ea typeface="Calibri" panose="020F0502020204030204" pitchFamily="34" charset="0"/>
                      </a:endParaRPr>
                    </a:p>
                  </a:txBody>
                  <a:tcPr marL="63500" marR="63500" marT="63500" marB="63500"/>
                </a:tc>
                <a:tc>
                  <a:txBody>
                    <a:bodyPr/>
                    <a:lstStyle/>
                    <a:p>
                      <a:pPr marL="0" marR="0" algn="ctr">
                        <a:buNone/>
                      </a:pPr>
                      <a:r>
                        <a:rPr lang="en-US" sz="1800">
                          <a:solidFill>
                            <a:schemeClr val="bg1"/>
                          </a:solidFill>
                          <a:effectLst/>
                        </a:rPr>
                        <a:t>This helps to determine what access a user can obtain, use, or modify. This is where the “least-privilege” approach to security is best enforced, as it keeps access to a bare minimum for a user base depending on their role. </a:t>
                      </a:r>
                      <a:endParaRPr lang="en-US" sz="1800">
                        <a:solidFill>
                          <a:schemeClr val="bg1"/>
                        </a:solidFill>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4079738046"/>
                  </a:ext>
                </a:extLst>
              </a:tr>
              <a:tr h="1259420">
                <a:tc>
                  <a:txBody>
                    <a:bodyPr/>
                    <a:lstStyle/>
                    <a:p>
                      <a:pPr marL="0" marR="0" algn="ctr">
                        <a:buNone/>
                      </a:pPr>
                      <a:r>
                        <a:rPr lang="en-US" sz="1800">
                          <a:solidFill>
                            <a:schemeClr val="bg1"/>
                          </a:solidFill>
                          <a:effectLst/>
                        </a:rPr>
                        <a:t>Accounting</a:t>
                      </a:r>
                      <a:endParaRPr lang="en-US" sz="1800">
                        <a:solidFill>
                          <a:schemeClr val="bg1"/>
                        </a:solidFill>
                        <a:effectLst/>
                        <a:latin typeface="Calibri" panose="020F0502020204030204" pitchFamily="34" charset="0"/>
                        <a:ea typeface="Calibri" panose="020F0502020204030204" pitchFamily="34" charset="0"/>
                      </a:endParaRPr>
                    </a:p>
                  </a:txBody>
                  <a:tcPr marL="63500" marR="63500" marT="63500" marB="63500"/>
                </a:tc>
                <a:tc>
                  <a:txBody>
                    <a:bodyPr/>
                    <a:lstStyle/>
                    <a:p>
                      <a:pPr marL="0" marR="0" algn="ctr">
                        <a:buNone/>
                      </a:pPr>
                      <a:r>
                        <a:rPr lang="en-US" sz="1800" dirty="0">
                          <a:solidFill>
                            <a:schemeClr val="bg1"/>
                          </a:solidFill>
                          <a:effectLst/>
                        </a:rPr>
                        <a:t>This helps to track, log, and keep record of any user activity on a given system, as well as keep track of any system changes made. Any suspicious behaviors will be seen thanks to its continued monitoring and auditing. </a:t>
                      </a:r>
                      <a:endParaRPr lang="en-US" sz="1800" dirty="0">
                        <a:solidFill>
                          <a:schemeClr val="bg1"/>
                        </a:solidFill>
                        <a:effectLst/>
                        <a:latin typeface="Calibri" panose="020F0502020204030204" pitchFamily="34" charset="0"/>
                        <a:ea typeface="Calibri" panose="020F0502020204030204" pitchFamily="34" charset="0"/>
                      </a:endParaRPr>
                    </a:p>
                  </a:txBody>
                  <a:tcPr marL="63500" marR="63500" marT="63500" marB="63500"/>
                </a:tc>
                <a:extLst>
                  <a:ext uri="{0D108BD9-81ED-4DB2-BD59-A6C34878D82A}">
                    <a16:rowId xmlns:a16="http://schemas.microsoft.com/office/drawing/2014/main" val="4170328446"/>
                  </a:ext>
                </a:extLst>
              </a:tr>
            </a:tbl>
          </a:graphicData>
        </a:graphic>
      </p:graphicFrame>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1CEB5A7C-8F4F-7F14-A478-4C8C5AC12E31}"/>
              </a:ext>
            </a:extLst>
          </p:cNvPr>
          <p:cNvPicPr>
            <a:picLocks noChangeAspect="1"/>
          </p:cNvPicPr>
          <p:nvPr/>
        </p:nvPicPr>
        <p:blipFill>
          <a:blip r:embed="rId5"/>
          <a:stretch>
            <a:fillRect/>
          </a:stretch>
        </p:blipFill>
        <p:spPr>
          <a:xfrm>
            <a:off x="2895600" y="4640571"/>
            <a:ext cx="8650854" cy="662768"/>
          </a:xfrm>
          <a:prstGeom prst="rect">
            <a:avLst/>
          </a:prstGeom>
        </p:spPr>
      </p:pic>
      <p:pic>
        <p:nvPicPr>
          <p:cNvPr id="5" name="Picture 4">
            <a:extLst>
              <a:ext uri="{FF2B5EF4-FFF2-40B4-BE49-F238E27FC236}">
                <a16:creationId xmlns:a16="http://schemas.microsoft.com/office/drawing/2014/main" id="{6B187BBB-55C9-667A-E19F-330BCF419C1D}"/>
              </a:ext>
            </a:extLst>
          </p:cNvPr>
          <p:cNvPicPr>
            <a:picLocks noChangeAspect="1"/>
          </p:cNvPicPr>
          <p:nvPr/>
        </p:nvPicPr>
        <p:blipFill>
          <a:blip r:embed="rId6"/>
          <a:stretch>
            <a:fillRect/>
          </a:stretch>
        </p:blipFill>
        <p:spPr>
          <a:xfrm>
            <a:off x="413044" y="378672"/>
            <a:ext cx="7779835" cy="3631776"/>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D6EAAC22-76D9-36E4-2764-BE62D9B29DF0}"/>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8DD3D5B9-3F6C-DA55-D143-8EA9E1762B9C}"/>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a:extLst>
              <a:ext uri="{FF2B5EF4-FFF2-40B4-BE49-F238E27FC236}">
                <a16:creationId xmlns:a16="http://schemas.microsoft.com/office/drawing/2014/main" id="{105D6095-3DCA-C62D-1743-EBEE27B82879}"/>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endParaRPr dirty="0"/>
          </a:p>
        </p:txBody>
      </p:sp>
      <p:pic>
        <p:nvPicPr>
          <p:cNvPr id="197" name="Google Shape;197;g9504e29505_0_0" descr="Green Pace logo">
            <a:extLst>
              <a:ext uri="{FF2B5EF4-FFF2-40B4-BE49-F238E27FC236}">
                <a16:creationId xmlns:a16="http://schemas.microsoft.com/office/drawing/2014/main" id="{3B68169B-48B7-9195-7A9B-CA74EC50AD53}"/>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a:extLst>
              <a:ext uri="{FF2B5EF4-FFF2-40B4-BE49-F238E27FC236}">
                <a16:creationId xmlns:a16="http://schemas.microsoft.com/office/drawing/2014/main" id="{C08BB8A1-E17F-15FD-BBC6-6DE9C8BF17E9}"/>
              </a:ext>
            </a:extLst>
          </p:cNvPr>
          <p:cNvPicPr>
            <a:picLocks noChangeAspect="1"/>
          </p:cNvPicPr>
          <p:nvPr/>
        </p:nvPicPr>
        <p:blipFill>
          <a:blip r:embed="rId5"/>
          <a:stretch>
            <a:fillRect/>
          </a:stretch>
        </p:blipFill>
        <p:spPr>
          <a:xfrm>
            <a:off x="2380066" y="4754055"/>
            <a:ext cx="8704008" cy="630960"/>
          </a:xfrm>
          <a:prstGeom prst="rect">
            <a:avLst/>
          </a:prstGeom>
        </p:spPr>
      </p:pic>
      <p:pic>
        <p:nvPicPr>
          <p:cNvPr id="7" name="Picture 6">
            <a:extLst>
              <a:ext uri="{FF2B5EF4-FFF2-40B4-BE49-F238E27FC236}">
                <a16:creationId xmlns:a16="http://schemas.microsoft.com/office/drawing/2014/main" id="{8FE8DDDF-2A4A-E6AA-83C3-EAD53E455465}"/>
              </a:ext>
            </a:extLst>
          </p:cNvPr>
          <p:cNvPicPr>
            <a:picLocks noChangeAspect="1"/>
          </p:cNvPicPr>
          <p:nvPr/>
        </p:nvPicPr>
        <p:blipFill>
          <a:blip r:embed="rId6"/>
          <a:stretch>
            <a:fillRect/>
          </a:stretch>
        </p:blipFill>
        <p:spPr>
          <a:xfrm>
            <a:off x="474023" y="413007"/>
            <a:ext cx="6760966" cy="3793653"/>
          </a:xfrm>
          <a:prstGeom prst="rect">
            <a:avLst/>
          </a:prstGeom>
        </p:spPr>
      </p:pic>
    </p:spTree>
    <p:custDataLst>
      <p:tags r:id="rId1"/>
    </p:custDataLst>
    <p:extLst>
      <p:ext uri="{BB962C8B-B14F-4D97-AF65-F5344CB8AC3E}">
        <p14:creationId xmlns:p14="http://schemas.microsoft.com/office/powerpoint/2010/main" val="2926375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1" indent="-228600" algn="l" rtl="0">
              <a:lnSpc>
                <a:spcPct val="90000"/>
              </a:lnSpc>
              <a:spcBef>
                <a:spcPts val="0"/>
              </a:spcBef>
              <a:spcAft>
                <a:spcPts val="0"/>
              </a:spcAft>
              <a:buClr>
                <a:schemeClr val="lt1"/>
              </a:buClr>
              <a:buSzPts val="2000"/>
              <a:buChar char="•"/>
            </a:pPr>
            <a:r>
              <a:rPr lang="en-US" dirty="0"/>
              <a:t>The </a:t>
            </a:r>
            <a:r>
              <a:rPr lang="en-US" b="1" u="sng" dirty="0" err="1"/>
              <a:t>DevSecOps</a:t>
            </a:r>
            <a:r>
              <a:rPr lang="en-US" b="1" u="sng" dirty="0"/>
              <a:t> pipeline</a:t>
            </a:r>
            <a:r>
              <a:rPr lang="en-US" dirty="0"/>
              <a:t> demonstrates the flow that our developmental processes go through. These include:</a:t>
            </a:r>
          </a:p>
          <a:p>
            <a:pPr marL="1600200" lvl="3" indent="-228600">
              <a:spcBef>
                <a:spcPts val="0"/>
              </a:spcBef>
              <a:buSzPts val="2000"/>
            </a:pPr>
            <a:r>
              <a:rPr lang="en-US" sz="2000" b="1" u="sng" dirty="0"/>
              <a:t>Pre-Production</a:t>
            </a:r>
            <a:r>
              <a:rPr lang="en-US" sz="2000" b="1" dirty="0"/>
              <a:t> </a:t>
            </a:r>
            <a:r>
              <a:rPr lang="en-US" sz="2000" dirty="0"/>
              <a:t>– The design and testing of a developing software</a:t>
            </a:r>
          </a:p>
          <a:p>
            <a:pPr marL="1600200" lvl="3" indent="-228600">
              <a:spcBef>
                <a:spcPts val="0"/>
              </a:spcBef>
              <a:buSzPts val="2000"/>
            </a:pPr>
            <a:r>
              <a:rPr lang="en-US" sz="2000" b="1" u="sng" dirty="0"/>
              <a:t>Production</a:t>
            </a:r>
            <a:r>
              <a:rPr lang="en-US" sz="2000" dirty="0"/>
              <a:t> – Deployment, monitoring, and maintenance of the working software</a:t>
            </a:r>
          </a:p>
          <a:p>
            <a:pPr marL="1371600" lvl="3" indent="0">
              <a:spcBef>
                <a:spcPts val="0"/>
              </a:spcBef>
              <a:buSzPts val="2000"/>
              <a:buNone/>
            </a:pPr>
            <a:endParaRPr sz="2000" dirty="0"/>
          </a:p>
          <a:p>
            <a:pPr marL="685800" lvl="1" indent="-228600" algn="l" rtl="0">
              <a:lnSpc>
                <a:spcPct val="90000"/>
              </a:lnSpc>
              <a:spcBef>
                <a:spcPts val="500"/>
              </a:spcBef>
              <a:spcAft>
                <a:spcPts val="0"/>
              </a:spcAft>
              <a:buClr>
                <a:schemeClr val="lt1"/>
              </a:buClr>
              <a:buSzPts val="2000"/>
              <a:buChar char="•"/>
            </a:pPr>
            <a:r>
              <a:rPr lang="en-US" dirty="0"/>
              <a:t>[Summarize the external tools and where and how they are used in the context of the diagram.]</a:t>
            </a:r>
            <a:endParaRPr sz="160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RECOMMENDATIONS</a:t>
            </a:r>
            <a:endParaRPr dirty="0"/>
          </a:p>
        </p:txBody>
      </p:sp>
      <p:sp>
        <p:nvSpPr>
          <p:cNvPr id="224" name="Google Shape;224;p12"/>
          <p:cNvSpPr txBox="1">
            <a:spLocks noGrp="1"/>
          </p:cNvSpPr>
          <p:nvPr>
            <p:ph type="body" idx="1"/>
          </p:nvPr>
        </p:nvSpPr>
        <p:spPr>
          <a:xfrm>
            <a:off x="221325" y="2069502"/>
            <a:ext cx="11284875" cy="4024125"/>
          </a:xfrm>
          <a:prstGeom prst="rect">
            <a:avLst/>
          </a:prstGeom>
          <a:noFill/>
          <a:ln>
            <a:noFill/>
          </a:ln>
        </p:spPr>
        <p:txBody>
          <a:bodyPr spcFirstLastPara="1" wrap="square" lIns="91425" tIns="45700" rIns="91425" bIns="45700" anchor="t" anchorCtr="0">
            <a:normAutofit/>
          </a:bodyPr>
          <a:lstStyle/>
          <a:p>
            <a:pPr marL="1143000" lvl="2" indent="-228600" rtl="0">
              <a:lnSpc>
                <a:spcPct val="90000"/>
              </a:lnSpc>
              <a:spcBef>
                <a:spcPts val="0"/>
              </a:spcBef>
              <a:spcAft>
                <a:spcPts val="0"/>
              </a:spcAft>
              <a:buClr>
                <a:schemeClr val="lt1"/>
              </a:buClr>
              <a:buSzPts val="1800"/>
              <a:buChar char="•"/>
            </a:pPr>
            <a:r>
              <a:rPr lang="en-US" sz="2800" dirty="0"/>
              <a:t>Security policies, no matter their strength or possibilities, are useless unless it is understood and adhered to,</a:t>
            </a:r>
          </a:p>
          <a:p>
            <a:pPr marL="1143000" lvl="2" indent="-228600" rtl="0">
              <a:lnSpc>
                <a:spcPct val="90000"/>
              </a:lnSpc>
              <a:spcBef>
                <a:spcPts val="0"/>
              </a:spcBef>
              <a:spcAft>
                <a:spcPts val="0"/>
              </a:spcAft>
              <a:buClr>
                <a:schemeClr val="lt1"/>
              </a:buClr>
              <a:buSzPts val="1800"/>
              <a:buChar char="•"/>
            </a:pPr>
            <a:r>
              <a:rPr lang="en-US" sz="2800" dirty="0"/>
              <a:t>Training in the </a:t>
            </a:r>
            <a:r>
              <a:rPr lang="en-US" sz="2800" dirty="0" err="1"/>
              <a:t>DevSecOps</a:t>
            </a:r>
            <a:r>
              <a:rPr lang="en-US" sz="2800" dirty="0"/>
              <a:t> workflow for any developers.</a:t>
            </a:r>
          </a:p>
          <a:p>
            <a:pPr marL="1143000" lvl="2" indent="-228600" rtl="0">
              <a:lnSpc>
                <a:spcPct val="90000"/>
              </a:lnSpc>
              <a:spcBef>
                <a:spcPts val="0"/>
              </a:spcBef>
              <a:spcAft>
                <a:spcPts val="0"/>
              </a:spcAft>
              <a:buClr>
                <a:schemeClr val="lt1"/>
              </a:buClr>
              <a:buSzPts val="1800"/>
              <a:buChar char="•"/>
            </a:pPr>
            <a:r>
              <a:rPr lang="en-US" sz="2800" dirty="0"/>
              <a:t>The use of automation for monitoring software vulnerabilities and dependencies.</a:t>
            </a:r>
          </a:p>
          <a:p>
            <a:pPr marL="1143000" lvl="2" indent="-228600" rtl="0">
              <a:lnSpc>
                <a:spcPct val="90000"/>
              </a:lnSpc>
              <a:spcBef>
                <a:spcPts val="0"/>
              </a:spcBef>
              <a:spcAft>
                <a:spcPts val="0"/>
              </a:spcAft>
              <a:buClr>
                <a:schemeClr val="lt1"/>
              </a:buClr>
              <a:buSzPts val="1800"/>
              <a:buChar char="•"/>
            </a:pPr>
            <a:r>
              <a:rPr lang="en-US" sz="2800" dirty="0"/>
              <a:t>Patches regularly for the prevention of attacks on the supply chain.</a:t>
            </a:r>
            <a:endParaRPr sz="28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sz="2800" dirty="0"/>
              <a:t>Training on both security and the set out security policies is a must.</a:t>
            </a:r>
          </a:p>
          <a:p>
            <a:pPr marL="228600" lvl="0" indent="-228600" algn="l" rtl="0">
              <a:lnSpc>
                <a:spcPct val="90000"/>
              </a:lnSpc>
              <a:spcBef>
                <a:spcPts val="0"/>
              </a:spcBef>
              <a:spcAft>
                <a:spcPts val="0"/>
              </a:spcAft>
              <a:buClr>
                <a:schemeClr val="lt1"/>
              </a:buClr>
              <a:buSzPts val="2200"/>
              <a:buChar char="•"/>
            </a:pPr>
            <a:r>
              <a:rPr lang="en-US" sz="2800" dirty="0"/>
              <a:t>The security policy should be reviewed  and adjusted/updated regularly as security needs are always changing.</a:t>
            </a:r>
          </a:p>
          <a:p>
            <a:pPr marL="228600" lvl="0" indent="-228600" algn="l" rtl="0">
              <a:lnSpc>
                <a:spcPct val="90000"/>
              </a:lnSpc>
              <a:spcBef>
                <a:spcPts val="0"/>
              </a:spcBef>
              <a:spcAft>
                <a:spcPts val="0"/>
              </a:spcAft>
              <a:buClr>
                <a:schemeClr val="lt1"/>
              </a:buClr>
              <a:buSzPts val="2200"/>
              <a:buChar char="•"/>
            </a:pPr>
            <a:r>
              <a:rPr lang="en-US" sz="2800" dirty="0"/>
              <a:t>Security MUST be considered from the very start.</a:t>
            </a:r>
          </a:p>
          <a:p>
            <a:pPr marL="228600" lvl="0" indent="-228600" algn="l" rtl="0">
              <a:lnSpc>
                <a:spcPct val="90000"/>
              </a:lnSpc>
              <a:spcBef>
                <a:spcPts val="0"/>
              </a:spcBef>
              <a:spcAft>
                <a:spcPts val="0"/>
              </a:spcAft>
              <a:buClr>
                <a:schemeClr val="lt1"/>
              </a:buClr>
              <a:buSzPts val="2200"/>
              <a:buChar char="•"/>
            </a:pPr>
            <a:r>
              <a:rPr lang="en-US" sz="2800" dirty="0"/>
              <a:t>Enforcement should be in place to ensure this policy is followed by all working on software.</a:t>
            </a:r>
          </a:p>
          <a:p>
            <a:pPr marL="228600" lvl="0" indent="-228600" algn="l" rtl="0">
              <a:lnSpc>
                <a:spcPct val="90000"/>
              </a:lnSpc>
              <a:spcBef>
                <a:spcPts val="0"/>
              </a:spcBef>
              <a:spcAft>
                <a:spcPts val="0"/>
              </a:spcAft>
              <a:buClr>
                <a:schemeClr val="lt1"/>
              </a:buClr>
              <a:buSzPts val="2200"/>
              <a:buChar char="•"/>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indent="0" algn="ctr">
              <a:spcBef>
                <a:spcPts val="0"/>
              </a:spcBef>
              <a:buSzPts val="2200"/>
              <a:buNone/>
            </a:pPr>
            <a:r>
              <a:rPr lang="en-US" dirty="0"/>
              <a:t>Madskristensen. (2016, November 4). </a:t>
            </a:r>
            <a:r>
              <a:rPr lang="en-US" i="1" dirty="0"/>
              <a:t>Use C++ assertion statements for debugging - Visual Studio (windows)</a:t>
            </a:r>
            <a:r>
              <a:rPr lang="en-US" dirty="0"/>
              <a:t>. Use C++ assertion statements for debugging - Visual Studio (Windows) | Microsoft Learn. https://learn.microsoft.com/en-us/visualstudio/debugger/c-cpp-assertions?view=visualstudio&amp;viewFallbackFrom=vs-2019 </a:t>
            </a:r>
          </a:p>
          <a:p>
            <a:pPr marL="0" lvl="0" indent="0" algn="l" rtl="0">
              <a:lnSpc>
                <a:spcPct val="90000"/>
              </a:lnSpc>
              <a:spcBef>
                <a:spcPts val="0"/>
              </a:spcBef>
              <a:spcAft>
                <a:spcPts val="0"/>
              </a:spcAft>
              <a:buClr>
                <a:schemeClr val="lt1"/>
              </a:buClr>
              <a:buSzPts val="2200"/>
              <a:buNone/>
            </a:pPr>
            <a:endParaRPr dirty="0"/>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151</TotalTime>
  <Words>928</Words>
  <Application>Microsoft Office PowerPoint</Application>
  <PresentationFormat>Widescreen</PresentationFormat>
  <Paragraphs>112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Century Gothic</vt:lpstr>
      <vt:lpstr>Arial</vt:lpstr>
      <vt:lpstr>Calibri</vt:lpstr>
      <vt:lpstr>Vapor Trail</vt:lpstr>
      <vt:lpstr>Green Pace</vt:lpstr>
      <vt:lpstr>OVERVIEW: DEFENSE IN DEPTH</vt:lpstr>
      <vt:lpstr>THREATS MATRIX</vt:lpstr>
      <vt:lpstr>10 PRINCIPLES</vt:lpstr>
      <vt:lpstr>CODING STANDARDS (Sorted Asc. by Priority)</vt:lpstr>
      <vt:lpstr>ENCRYPTION POLICIES</vt:lpstr>
      <vt:lpstr>TRIPLE-A POLICIES</vt:lpstr>
      <vt:lpstr>Unit Testing</vt:lpstr>
      <vt:lpstr>Unit Testing</vt:lpstr>
      <vt:lpstr>AUTOMATION SUMMARY</vt:lpstr>
      <vt:lpstr>TOOLS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ethan mayberry</cp:lastModifiedBy>
  <cp:revision>6</cp:revision>
  <dcterms:created xsi:type="dcterms:W3CDTF">2020-08-19T17:59:24Z</dcterms:created>
  <dcterms:modified xsi:type="dcterms:W3CDTF">2026-10-18T23:03:40Z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